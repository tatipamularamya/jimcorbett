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1143000"/>
            <a:ext cx="2743200" cy="2743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5440" y="2331720"/>
            <a:ext cx="1554480" cy="1554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0" y="3291840"/>
            <a:ext cx="1645920" cy="1645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858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6B6D4"/>
                </a:solidFill>
                <a:latin typeface="Aptos Display"/>
              </a:defRPr>
            </a:pPr>
            <a:r>
              <a:rPr/>
              <a:t>PYTHON</a:t>
            </a:r>
          </a:p>
          <a:p>
            <a:pPr>
              <a:defRPr sz="4800" b="1">
                <a:solidFill>
                  <a:srgbClr val="F8FAFC"/>
                </a:solidFill>
                <a:latin typeface="Aptos Display"/>
              </a:defRPr>
            </a:pPr>
            <a:r>
              <a:rPr/>
              <a:t>File Handling</a:t>
            </a:r>
          </a:p>
          <a:p>
            <a:pPr>
              <a:spcBef>
                <a:spcPts val="1000"/>
              </a:spcBef>
              <a:defRPr sz="1900">
                <a:solidFill>
                  <a:srgbClr val="CBD5E1"/>
                </a:solidFill>
                <a:latin typeface="Aptos"/>
              </a:defRPr>
            </a:pPr>
            <a:r>
              <a:rPr/>
              <a:t>Read • Write • Append • Manage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069080"/>
            <a:ext cx="1965960" cy="50292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CONCEPT + SYNTAX +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What is File Handling?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rPr/>
              <a:t>•  File handling means using Python to work with files stored on a computer.</a:t>
            </a:r>
          </a:p>
          <a:p>
            <a:pPr>
              <a:spcAft>
                <a:spcPts val="11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rPr/>
              <a:t>•  It lets a program store, retrieve and update information outside the program's memory.</a:t>
            </a:r>
          </a:p>
          <a:p>
            <a:pPr>
              <a:spcAft>
                <a:spcPts val="11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rPr/>
              <a:t>•  Files are useful when data must remain available after the program stops running.</a:t>
            </a:r>
          </a:p>
          <a:p>
            <a:pPr>
              <a:spcAft>
                <a:spcPts val="11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rPr/>
              <a:t>•  Typical tasks include reading records, saving logs, generating reports and storing user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66360"/>
            <a:ext cx="10561320" cy="9144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16636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30952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Think of it this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88152"/>
            <a:ext cx="10149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Variables are temporary storage inside a running program. A file acts as persistent storage that can be used again later.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Why Do We Need File Handling?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Without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Data stored only in variables is available while the program is running. When the program ends, that in-memory data is gone.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18288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904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With a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Important information can be saved permanently and loaded whenever the application needs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4480560" cy="15544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675887"/>
            <a:ext cx="4078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005072"/>
            <a:ext cx="4078224" cy="987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name = "Ramya"</a:t>
            </a:r>
            <a:br/>
            <a:r>
              <a:rPr/>
              <a:t>score = 85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66160"/>
            <a:ext cx="4754880" cy="15544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675887"/>
            <a:ext cx="4352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PERSISTENT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005072"/>
            <a:ext cx="4352544" cy="987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open("students.txt", "w") as file:</a:t>
            </a:r>
            <a:br/>
            <a:r>
              <a:rPr/>
              <a:t>    file.write("Ramya, 85")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Types of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743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2743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Text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Store readable characters and text-based data.</a:t>
            </a:r>
            <a:br/>
            <a:br/>
            <a:r>
              <a:rPr/>
              <a:t>Examples: .txt, .csv, .json, .log, 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2743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Binary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Store data in binary form and are generally not meant to be read as plain text.</a:t>
            </a:r>
            <a:br/>
            <a:br/>
            <a:r>
              <a:rPr/>
              <a:t>Examples: images, audio, video, PDFs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4572000"/>
            <a:ext cx="7955279" cy="10058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20" y="457200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4736592"/>
            <a:ext cx="7543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In this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193792"/>
            <a:ext cx="7543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The main focus is text-file handling because it clearly demonstrates the core Python file concepts.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The File Handling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246120" cy="219456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84831" y="13258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80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/>
              <a:t>OPEN</a:t>
            </a:r>
          </a:p>
          <a:p>
            <a:pPr algn="ctr"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rPr/>
              <a:t>Connect Python to the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46120" cy="219456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79592" y="132588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48840"/>
            <a:ext cx="2880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/>
              <a:t>OPERATE</a:t>
            </a:r>
          </a:p>
          <a:p>
            <a:pPr algn="ctr"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rPr/>
              <a:t>Read, write or append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828800"/>
            <a:ext cx="3246120" cy="219456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74352" y="132588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148840"/>
            <a:ext cx="2880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/>
              <a:t>CLOSE</a:t>
            </a:r>
          </a:p>
          <a:p>
            <a:pPr algn="ctr"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rPr/>
              <a:t>Release the file resource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4617720"/>
            <a:ext cx="6492240" cy="1234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4727448"/>
            <a:ext cx="608990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5056631"/>
            <a:ext cx="6089903" cy="667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file = open("students.txt", "r")</a:t>
            </a:r>
            <a:br/>
            <a:r>
              <a:rPr/>
              <a:t>data = file.read()</a:t>
            </a:r>
            <a:br/>
            <a:r>
              <a:rPr/>
              <a:t>file.close()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Opening a File with open()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52760" cy="105156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35607"/>
            <a:ext cx="102504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764792"/>
            <a:ext cx="10250424" cy="4846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file_object = open("filename", "mode")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4800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rPr/>
              <a:t>•  `filename` → the file you want to work with.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rPr/>
              <a:t>•  `mode` → tells Python what you intend to do with the file.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rPr/>
              <a:t>•  The returned file object is used for operations such as read(), write() and close().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5074920"/>
            <a:ext cx="7040880" cy="8686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5184648"/>
            <a:ext cx="6638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5513831"/>
            <a:ext cx="6638544" cy="3017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file = open("students.txt", "r")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96711"/>
            <a:ext cx="4069080" cy="1463040"/>
          </a:xfrm>
          <a:prstGeom prst="roundRect">
            <a:avLst/>
          </a:prstGeom>
          <a:solidFill>
            <a:srgbClr val="18373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5788151"/>
            <a:ext cx="37764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7FF"/>
                </a:solidFill>
                <a:latin typeface="Cascadia Mono"/>
              </a:defRPr>
            </a:pPr>
            <a:r>
              <a:rPr b="1"/>
              <a:t>Result</a:t>
            </a:r>
            <a:br/>
            <a:r>
              <a:t>A file object is created and connected to students.txt in read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File Opening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83280" cy="1600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447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`r` 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Read an existing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80160"/>
            <a:ext cx="3383280" cy="1600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80160"/>
            <a:ext cx="73152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447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`w` 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0195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Write from the beginning; can overwrite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383280" cy="1600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73152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447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`a`  Append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90195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Add new data at the 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3383280" cy="1600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935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`x`  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50791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Create a new file; fails if it exists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29000"/>
            <a:ext cx="3383280" cy="1600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429000"/>
            <a:ext cx="73152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5935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`r+`  Read + Write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50791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Read and modify an existing 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5532120"/>
            <a:ext cx="7818120" cy="6858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0" y="5532120"/>
            <a:ext cx="73152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160" y="5696712"/>
            <a:ext cx="7406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Most important to 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6153912"/>
            <a:ext cx="740664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 = read   •   w = replace/write   •   a = add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c 30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Reading a File: read()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486400" cy="22402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35607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64792"/>
            <a:ext cx="5084064" cy="1673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open("students.txt", "r") as file:</a:t>
            </a:r>
            <a:br/>
            <a:r>
              <a:rPr/>
              <a:t>    data = file.read()</a:t>
            </a:r>
            <a:br/>
            <a:r>
              <a:rPr/>
              <a:t>    print(data)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25880"/>
            <a:ext cx="4663440" cy="22402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325880"/>
            <a:ext cx="73152" cy="2240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90472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Example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47672"/>
            <a:ext cx="425195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Ramya - Python</a:t>
            </a:r>
            <a:br/>
            <a:r>
              <a:rPr/>
              <a:t>Rahul - SQL</a:t>
            </a:r>
            <a:br/>
            <a:r>
              <a:rPr/>
              <a:t>Priya - Java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69080"/>
            <a:ext cx="10149840" cy="13258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0690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33672"/>
            <a:ext cx="9738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When to use read()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90872"/>
            <a:ext cx="9738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Use it when you want the complete file content at once. For very large files, reading everything at once may use more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Reading Different Amounts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2743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read(n)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Reads up to n characters.</a:t>
            </a:r>
            <a:br/>
            <a:br/>
            <a:r>
              <a:rPr/>
              <a:t>Useful when you want a specific amount of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2743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2743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readline()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47672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Reads one line at a time.</a:t>
            </a:r>
            <a:br/>
            <a:br/>
            <a:r>
              <a:rPr/>
              <a:t>Useful for processing records line by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2743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readlines()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47672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Reads all lines and returns them as a list.</a:t>
            </a:r>
            <a:br/>
            <a:br/>
            <a:r>
              <a:rPr/>
              <a:t>Useful when you need lines as separate list items.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4617720"/>
            <a:ext cx="6492240" cy="10058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1528" y="4727448"/>
            <a:ext cx="608990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5056631"/>
            <a:ext cx="6089903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line = file.readline()</a:t>
            </a:r>
            <a:br/>
            <a:r>
              <a:rPr/>
              <a:t>lines = file.readlines()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Writing to a File: write()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852160" cy="2377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89888"/>
            <a:ext cx="54498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5449824" cy="1810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open("students.txt", "w") as file:</a:t>
            </a:r>
            <a:br/>
            <a:r>
              <a:rPr/>
              <a:t>    file.write("Ramya - Python\n")</a:t>
            </a:r>
            <a:br/>
            <a:r>
              <a:rPr/>
              <a:t>    file.write("Rahul - SQL\n")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280160"/>
            <a:ext cx="4526280" cy="2377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1280160"/>
            <a:ext cx="73152" cy="2377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444751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01952"/>
            <a:ext cx="4114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Ramya - Python</a:t>
            </a:r>
            <a:br/>
            <a:r>
              <a:rPr/>
              <a:t>Rahul -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160520"/>
            <a:ext cx="10058400" cy="1234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4160520"/>
            <a:ext cx="73152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325112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Important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782312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`w` starts writing from the beginning. If the file already has content, existing content can be overwritten.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Writing Multiple Lines: writelines()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6400800" cy="44348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44168"/>
            <a:ext cx="5998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673352"/>
            <a:ext cx="5998464" cy="38679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students = [</a:t>
            </a:r>
            <a:br/>
            <a:r>
              <a:rPr/>
              <a:t>    "Ramya - Python\n",</a:t>
            </a:r>
            <a:br/>
            <a:r>
              <a:rPr/>
              <a:t>    "Rahul - SQL\n",</a:t>
            </a:r>
            <a:br/>
            <a:r>
              <a:rPr/>
              <a:t>    "Priya - Java\n"</a:t>
            </a:r>
            <a:br/>
            <a:r>
              <a:rPr/>
              <a:t>]</a:t>
            </a:r>
            <a:br/>
            <a:br/>
            <a:r>
              <a:rPr/>
              <a:t>with open("students.txt", "w") as file:</a:t>
            </a:r>
            <a:br/>
            <a:r>
              <a:rPr/>
              <a:t>    file.writelines(students)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4069080" cy="301752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3017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58191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Key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039112"/>
            <a:ext cx="365760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writelines() writes a collection of strings.</a:t>
            </a:r>
            <a:br/>
            <a:br/>
            <a:r>
              <a:rPr/>
              <a:t>It does NOT automatically add newline characters, so include \n when separate lines are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Appending Data with append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1600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5266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5266944" cy="103327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open("students.txt", "a") as file:</a:t>
            </a:r>
            <a:br/>
            <a:r>
              <a:rPr/>
              <a:t>    file.write("Kiran - Data Science\n")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80160"/>
            <a:ext cx="4389120" cy="18288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280160"/>
            <a:ext cx="73152" cy="1828800"/>
          </a:xfrm>
          <a:prstGeom prst="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444751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01952"/>
            <a:ext cx="3977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Ramya - Python</a:t>
            </a:r>
            <a:br/>
            <a:r>
              <a:rPr/>
              <a:t>Rahul - SQL</a:t>
            </a:r>
            <a:br/>
            <a:r>
              <a:rPr/>
              <a:t>Priya - Java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429000"/>
            <a:ext cx="4389120" cy="21488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3429000"/>
            <a:ext cx="73152" cy="2148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593592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050791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Ramya - Python</a:t>
            </a:r>
            <a:br/>
            <a:r>
              <a:rPr/>
              <a:t>Rahul - SQL</a:t>
            </a:r>
            <a:br/>
            <a:r>
              <a:rPr/>
              <a:t>Priya - Java</a:t>
            </a:r>
            <a:br/>
            <a:r>
              <a:rPr/>
              <a:t>Kiran - Data Science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5166360" cy="19202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822191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Remember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79392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w → existing content may be replaced</a:t>
            </a:r>
            <a:br/>
            <a:br/>
            <a:r>
              <a:rPr/>
              <a:t>a → existing content is kept and new data is added at the 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Creating a New File: x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5852160" cy="20116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481328"/>
            <a:ext cx="54498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810512"/>
            <a:ext cx="5449824" cy="1444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file = open("new_students.txt", "x")</a:t>
            </a:r>
            <a:br/>
            <a:r>
              <a:rPr/>
              <a:t>file.write("Ramya - Python")</a:t>
            </a:r>
            <a:br/>
            <a:r>
              <a:rPr/>
              <a:t>file.close()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371600"/>
            <a:ext cx="4023360" cy="20116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137160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36192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What does x 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93392"/>
            <a:ext cx="3611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Creates a new file.</a:t>
            </a:r>
            <a:br/>
            <a:br/>
            <a:r>
              <a:rPr/>
              <a:t>If the file already exists, Python raises an error instead of overwriting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160520"/>
            <a:ext cx="8321040" cy="11430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4160520"/>
            <a:ext cx="73152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4325112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Why is this useful?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782312"/>
            <a:ext cx="7909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It helps protect existing files when your intention is specifically to create a brand-new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The Recommended Approach: with open()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492240" cy="19202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35607"/>
            <a:ext cx="608990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764792"/>
            <a:ext cx="6089903" cy="1353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open("students.txt", "r") as file:</a:t>
            </a:r>
            <a:br/>
            <a:r>
              <a:rPr/>
              <a:t>    data = file.read()</a:t>
            </a:r>
            <a:br/>
            <a:r>
              <a:rPr/>
              <a:t>    print(data)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25880"/>
            <a:ext cx="3749039" cy="19202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32588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490472"/>
            <a:ext cx="33375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Why use with?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47672"/>
            <a:ext cx="33375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Python automatically closes the file when the block finishes, even when the operation encounters an error.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4069080"/>
            <a:ext cx="8412480" cy="1234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406908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4233672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Better than manually closing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690872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Manual: open → operate → close</a:t>
            </a:r>
            <a:br/>
            <a:br/>
            <a:r>
              <a:rPr/>
              <a:t>with: open → operate → automatic 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Reading Line by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6035040" cy="2377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35607"/>
            <a:ext cx="563270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764792"/>
            <a:ext cx="5632703" cy="1810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open("students.txt", "r") as file:</a:t>
            </a:r>
            <a:br/>
            <a:r>
              <a:rPr/>
              <a:t>    for line in file:</a:t>
            </a:r>
            <a:br/>
            <a:r>
              <a:rPr/>
              <a:t>        print(line.strip())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25880"/>
            <a:ext cx="3977639" cy="2377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325880"/>
            <a:ext cx="73152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490472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Why line by line?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947672"/>
            <a:ext cx="35661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It is simple and memory-friendly for files containing many records.</a:t>
            </a:r>
            <a:br/>
            <a:br/>
            <a:r>
              <a:rPr/>
              <a:t>Each iteration gives one line from the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4251960"/>
            <a:ext cx="8183879" cy="105156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4251960"/>
            <a:ext cx="73152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441655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What does strip() 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873752"/>
            <a:ext cx="77724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It removes extra whitespace, including the newline character at the end of a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File Pointer: tell() and seek()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310896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89888"/>
            <a:ext cx="5998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5998464" cy="2542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open("data.txt", "r") as file:</a:t>
            </a:r>
            <a:br/>
            <a:r>
              <a:rPr/>
              <a:t>    print(file.read(5))</a:t>
            </a:r>
            <a:br/>
            <a:r>
              <a:rPr/>
              <a:t>    print(file.tell())</a:t>
            </a:r>
            <a:br/>
            <a:r>
              <a:rPr/>
              <a:t>    file.seek(0)</a:t>
            </a:r>
            <a:br/>
            <a:r>
              <a:rPr/>
              <a:t>    print(file.read(5))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657600" cy="1234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9047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tell()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4767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Returns the current position of the file pointer.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880360"/>
            <a:ext cx="3657600" cy="1234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880360"/>
            <a:ext cx="73152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04495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seek(0)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50215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Moves the file pointer back to the beginning.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800600"/>
            <a:ext cx="8412480" cy="8686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480060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4965192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Think of the pointer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422392"/>
            <a:ext cx="8001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Imagine a cursor moving through the file. Reading advances it; seek() can reposition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Handling File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6400800" cy="324612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44168"/>
            <a:ext cx="5998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673352"/>
            <a:ext cx="5998464" cy="2679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try:</a:t>
            </a:r>
            <a:br/>
            <a:r>
              <a:rPr/>
              <a:t>    with open("students.txt", "r") as file:</a:t>
            </a:r>
            <a:br/>
            <a:r>
              <a:rPr/>
              <a:t>        print(file.read())</a:t>
            </a:r>
            <a:br/>
            <a:r>
              <a:rPr/>
              <a:t>except FileNotFoundError:</a:t>
            </a:r>
            <a:br/>
            <a:r>
              <a:rPr/>
              <a:t>    print("The file does not exist.")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280160"/>
            <a:ext cx="3977639" cy="274320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280160"/>
            <a:ext cx="73152" cy="2743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444751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Common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01952"/>
            <a:ext cx="35661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• File does not exist</a:t>
            </a:r>
            <a:br/>
            <a:r>
              <a:rPr/>
              <a:t>• Permission denied</a:t>
            </a:r>
            <a:br/>
            <a:r>
              <a:rPr/>
              <a:t>• File already exists when using x</a:t>
            </a:r>
            <a:br/>
            <a:r>
              <a:rPr/>
              <a:t>• Incorrect operation for the chosen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4892040"/>
            <a:ext cx="8046720" cy="82296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4892040"/>
            <a:ext cx="73152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5056631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513831"/>
            <a:ext cx="76352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Exception handling prevents the program from failing without a useful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/>
              <a:t>Practical Example: Student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114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Aptos"/>
              </a:defRPr>
            </a:pPr>
            <a:r>
              <a:rPr/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943600" cy="42976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252728"/>
            <a:ext cx="55412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5541264" cy="3730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students = [</a:t>
            </a:r>
            <a:br/>
            <a:r>
              <a:rPr/>
              <a:t>    "Ramya, Python, 85\n",</a:t>
            </a:r>
            <a:br/>
            <a:r>
              <a:rPr/>
              <a:t>    "Rahul, SQL, 90\n",</a:t>
            </a:r>
            <a:br/>
            <a:r>
              <a:rPr/>
              <a:t>    "Priya, Java, 78\n"</a:t>
            </a:r>
            <a:br/>
            <a:r>
              <a:rPr/>
              <a:t>]</a:t>
            </a:r>
            <a:br/>
            <a:br/>
            <a:r>
              <a:rPr/>
              <a:t>with open("students.txt", "w") as file:</a:t>
            </a:r>
            <a:br/>
            <a:r>
              <a:rPr/>
              <a:t>    file.writelines(students)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143000"/>
            <a:ext cx="4754880" cy="429768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3448" y="1252728"/>
            <a:ext cx="4352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1581912"/>
            <a:ext cx="4352544" cy="3730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open("students.txt", "r") as file:</a:t>
            </a:r>
            <a:br/>
            <a:r>
              <a:rPr/>
              <a:t>    for line in file:</a:t>
            </a:r>
            <a:br/>
            <a:r>
              <a:rPr/>
              <a:t>        print(line.strip())</a:t>
            </a:r>
            <a:br/>
            <a:br/>
            <a:r>
              <a:rPr/>
              <a:t>with open("students.txt", "a") as file:</a:t>
            </a:r>
            <a:br/>
            <a:r>
              <a:rPr/>
              <a:t>    file.write("Kiran, Python, 88\n")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5669280"/>
            <a:ext cx="8412480" cy="59436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5669280"/>
            <a:ext cx="73152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5833872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rPr/>
              <a:t>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6291072"/>
            <a:ext cx="800100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rPr/>
              <a:t>WRITE initial records → READ records → APPEND a new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10149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ptos Display"/>
              </a:defRPr>
            </a:pPr>
            <a:r>
              <a:rPr/>
              <a:t>OPEN  →  OPERATE  →  CLOSE</a:t>
            </a:r>
          </a:p>
          <a:p>
            <a:pPr algn="ctr">
              <a:spcBef>
                <a:spcPts val="1500"/>
              </a:spcBef>
              <a:defRPr sz="1800">
                <a:solidFill>
                  <a:srgbClr val="CBD5E1"/>
                </a:solidFill>
                <a:latin typeface="Aptos"/>
              </a:defRPr>
            </a:pPr>
            <a:r>
              <a:rPr/>
              <a:t>The simple mental model behind Python File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794760"/>
            <a:ext cx="6675120" cy="1234440"/>
          </a:xfrm>
          <a:prstGeom prst="roundRect">
            <a:avLst/>
          </a:prstGeom>
          <a:solidFill>
            <a:srgbClr val="221E3E"/>
          </a:solidFill>
          <a:ln>
            <a:solidFill>
              <a:srgbClr val="43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4368" y="3904488"/>
            <a:ext cx="627278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ptos"/>
              </a:defRPr>
            </a:pPr>
            <a:r>
              <a:rPr/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4233672"/>
            <a:ext cx="6272783" cy="667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onsolas"/>
              </a:defRPr>
            </a:pPr>
            <a:r>
              <a:rPr/>
              <a:t>with open("students.txt", "r") as file:</a:t>
            </a:r>
            <a:br/>
            <a:r>
              <a:rPr/>
              <a:t>    data = file.read()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DC9E0"/>
                </a:solidFill>
                <a:latin typeface="Aptos"/>
              </a:defRPr>
            </a:pPr>
            <a:r>
              <a:rPr/>
              <a:t>PYTHON FILE HANDLING   •  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10835640" y="-320040"/>
            <a:ext cx="1645920" cy="1645920"/>
          </a:xfrm>
          <a:prstGeom prst="arc">
            <a:avLst/>
          </a:prstGeom>
          <a:noFill/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